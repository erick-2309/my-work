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1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1" r:id="rId3"/>
    <p:sldId id="277" r:id="rId4"/>
    <p:sldId id="279" r:id="rId5"/>
    <p:sldId id="281" r:id="rId6"/>
    <p:sldId id="282" r:id="rId7"/>
    <p:sldId id="283" r:id="rId8"/>
    <p:sldId id="284" r:id="rId9"/>
    <p:sldId id="288" r:id="rId10"/>
    <p:sldId id="276" r:id="rId11"/>
    <p:sldId id="285" r:id="rId12"/>
    <p:sldId id="286" r:id="rId13"/>
    <p:sldId id="287" r:id="rId14"/>
    <p:sldId id="289" r:id="rId15"/>
    <p:sldId id="290" r:id="rId16"/>
    <p:sldId id="270" r:id="rId17"/>
  </p:sldIdLst>
  <p:sldSz cx="12192000" cy="6858000"/>
  <p:notesSz cx="6797675" cy="9926638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handoutView">
  <p:normalViewPr horzBarState="maximized">
    <p:restoredLeft sz="15620"/>
    <p:restoredTop sz="94660"/>
  </p:normalViewPr>
  <p:slideViewPr>
    <p:cSldViewPr>
      <p:cViewPr>
        <p:scale>
          <a:sx n="154" d="100"/>
          <a:sy n="154" d="100"/>
        </p:scale>
        <p:origin x="45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75" d="100"/>
          <a:sy n="75" d="100"/>
        </p:scale>
        <p:origin x="5946" y="10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3DC6CD2-0999-4BAE-9DDB-D9E086F2A9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t" anchorCtr="0" compatLnSpc="1">
            <a:prstTxWarp prst="textNoShape">
              <a:avLst/>
            </a:prstTxWarp>
          </a:bodyPr>
          <a:lstStyle>
            <a:lvl1pPr defTabSz="955485">
              <a:defRPr sz="1300"/>
            </a:lvl1pPr>
          </a:lstStyle>
          <a:p>
            <a:pPr>
              <a:defRPr/>
            </a:pP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5830D87-10CA-434B-9E67-3F243388F4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625" y="0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t" anchorCtr="0" compatLnSpc="1">
            <a:prstTxWarp prst="textNoShape">
              <a:avLst/>
            </a:prstTxWarp>
          </a:bodyPr>
          <a:lstStyle>
            <a:lvl1pPr algn="r" defTabSz="955485">
              <a:defRPr sz="1300"/>
            </a:lvl1pPr>
          </a:lstStyle>
          <a:p>
            <a:pPr>
              <a:defRPr/>
            </a:pPr>
            <a:endParaRPr lang="fr-FR">
              <a:latin typeface="Candara" panose="020E0502030303020204" pitchFamily="34" charset="0"/>
            </a:endParaRP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912EDEA0-CAA5-47F0-9892-4FC2911EB71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0307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b" anchorCtr="0" compatLnSpc="1">
            <a:prstTxWarp prst="textNoShape">
              <a:avLst/>
            </a:prstTxWarp>
          </a:bodyPr>
          <a:lstStyle>
            <a:lvl1pPr defTabSz="955485">
              <a:defRPr sz="800"/>
            </a:lvl1pPr>
          </a:lstStyle>
          <a:p>
            <a:pPr>
              <a:defRPr/>
            </a:pPr>
            <a:r>
              <a:rPr lang="fr-FR">
                <a:latin typeface="Candara" panose="020E0502030303020204" pitchFamily="34" charset="0"/>
              </a:rPr>
              <a:t>CL 12/03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746FCA4-B7B0-4670-A062-5101D739811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625" y="9430307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b" anchorCtr="0" compatLnSpc="1">
            <a:prstTxWarp prst="textNoShape">
              <a:avLst/>
            </a:prstTxWarp>
          </a:bodyPr>
          <a:lstStyle>
            <a:lvl1pPr algn="r" defTabSz="955485">
              <a:defRPr sz="1300"/>
            </a:lvl1pPr>
          </a:lstStyle>
          <a:p>
            <a:fld id="{AAA8ED34-ED9A-4061-9478-4F5B2C2D0159}" type="slidenum">
              <a:rPr lang="fr-FR" altLang="fr-FR">
                <a:latin typeface="Candara" panose="020E0502030303020204" pitchFamily="34" charset="0"/>
              </a:rPr>
              <a:pPr/>
              <a:t>‹N°›</a:t>
            </a:fld>
            <a:endParaRPr lang="fr-FR" altLang="fr-FR" dirty="0">
              <a:latin typeface="Candara" panose="020E0502030303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8CCB3C7-A6A0-45FC-A1E9-15DF598E67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t" anchorCtr="0" compatLnSpc="1">
            <a:prstTxWarp prst="textNoShape">
              <a:avLst/>
            </a:prstTxWarp>
          </a:bodyPr>
          <a:lstStyle>
            <a:lvl1pPr defTabSz="955485">
              <a:defRPr sz="1300"/>
            </a:lvl1pPr>
          </a:lstStyle>
          <a:p>
            <a:pPr>
              <a:defRPr/>
            </a:pPr>
            <a:r>
              <a:rPr lang="fr-FR"/>
              <a:t>Méthodologie Objet : Généricité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839F09-6D2E-4181-99FA-5D59BAEF7BF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2625" y="0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t" anchorCtr="0" compatLnSpc="1">
            <a:prstTxWarp prst="textNoShape">
              <a:avLst/>
            </a:prstTxWarp>
          </a:bodyPr>
          <a:lstStyle>
            <a:lvl1pPr algn="r" defTabSz="955485">
              <a:defRPr sz="13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9F43A73A-E0CB-430F-AD7A-96EEE7AFD340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22453AD4-8229-4C4E-AF5C-A45B4240578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053" y="4715154"/>
            <a:ext cx="4985571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D72556C4-D830-4A8C-BBCE-3BEFFF639B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0307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b" anchorCtr="0" compatLnSpc="1">
            <a:prstTxWarp prst="textNoShape">
              <a:avLst/>
            </a:prstTxWarp>
          </a:bodyPr>
          <a:lstStyle>
            <a:lvl1pPr defTabSz="955485">
              <a:defRPr sz="1300"/>
            </a:lvl1pPr>
          </a:lstStyle>
          <a:p>
            <a:pPr>
              <a:defRPr/>
            </a:pPr>
            <a:r>
              <a:rPr lang="fr-FR"/>
              <a:t>CL 12/03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B9615E19-DCD8-4574-9FE6-12325F910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625" y="9430307"/>
            <a:ext cx="294505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4" rIns="95549" bIns="47774" numCol="1" anchor="b" anchorCtr="0" compatLnSpc="1">
            <a:prstTxWarp prst="textNoShape">
              <a:avLst/>
            </a:prstTxWarp>
          </a:bodyPr>
          <a:lstStyle>
            <a:lvl1pPr algn="r" defTabSz="955485">
              <a:defRPr sz="1300"/>
            </a:lvl1pPr>
          </a:lstStyle>
          <a:p>
            <a:fld id="{512B2129-6CF9-4B60-B8EF-6C8A806C1D31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E5FB560-A1CA-441E-97B1-B69E32B2AB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7764" indent="-276063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4252" indent="-220850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5953" indent="-220850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7654" indent="-220850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29355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71056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12757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54458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fr-FR" altLang="fr-FR" sz="1300"/>
              <a:t>Méthodologie Objet : Généricité</a:t>
            </a:r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0F7C4241-773F-41F2-8A45-9227B6D930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7764" indent="-276063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4252" indent="-220850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5953" indent="-220850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7654" indent="-220850" defTabSz="955485"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29355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71056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12757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54458" indent="-220850" defTabSz="95548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fr-FR" altLang="fr-FR" sz="1300"/>
              <a:t>CL 12/03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620477DB-940B-47C8-A334-9C02F7ABA0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FBF20F74-FA8D-4811-9DED-74425E0CA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jpeg"/><Relationship Id="rId11" Type="http://schemas.openxmlformats.org/officeDocument/2006/relationships/image" Target="../media/image3.jpe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2139" y="4882963"/>
            <a:ext cx="12192000" cy="1980000"/>
            <a:chOff x="2138" y="4882963"/>
            <a:chExt cx="12192000" cy="1980000"/>
          </a:xfrm>
        </p:grpSpPr>
        <p:pic>
          <p:nvPicPr>
            <p:cNvPr id="27" name="Image 26"/>
            <p:cNvPicPr>
              <a:picLocks noChangeAspect="1"/>
            </p:cNvPicPr>
            <p:nvPr userDrawn="1"/>
          </p:nvPicPr>
          <p:blipFill rotWithShape="1">
            <a:blip r:embed="rId2"/>
            <a:srcRect l="5226"/>
            <a:stretch/>
          </p:blipFill>
          <p:spPr>
            <a:xfrm>
              <a:off x="2138" y="4882963"/>
              <a:ext cx="12192000" cy="1980000"/>
            </a:xfrm>
            <a:prstGeom prst="rect">
              <a:avLst/>
            </a:prstGeom>
          </p:spPr>
        </p:pic>
        <p:pic>
          <p:nvPicPr>
            <p:cNvPr id="17" name="Image 7" descr="\\SERV-ADMD\documents\IATOS\Administratifs\obert\Mes documents\Modèles\Log_CTI_quadri-2.gif"/>
            <p:cNvPicPr>
              <a:picLocks noChangeAspect="1" noChangeArrowheads="1"/>
            </p:cNvPicPr>
            <p:nvPr/>
          </p:nvPicPr>
          <p:blipFill>
            <a:blip r:embed="rId3" cstate="screen"/>
            <a:stretch>
              <a:fillRect/>
            </a:stretch>
          </p:blipFill>
          <p:spPr bwMode="auto">
            <a:xfrm>
              <a:off x="2604851" y="6238255"/>
              <a:ext cx="554784" cy="414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Picture 2" descr="\\SERV-ADMD\documents\IATOS\Administratifs\obert\Mes documents\Modèles\Logo CGE_Couleur.png"/>
            <p:cNvPicPr>
              <a:picLocks noChangeAspect="1" noChangeArrowheads="1"/>
            </p:cNvPicPr>
            <p:nvPr/>
          </p:nvPicPr>
          <p:blipFill>
            <a:blip r:embed="rId4" cstate="screen"/>
            <a:stretch>
              <a:fillRect/>
            </a:stretch>
          </p:blipFill>
          <p:spPr bwMode="auto">
            <a:xfrm>
              <a:off x="4970165" y="6203137"/>
              <a:ext cx="1310753" cy="4145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7440" y="6203137"/>
              <a:ext cx="1194920" cy="41456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Image 1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7424153" y="6255320"/>
              <a:ext cx="727364" cy="361604"/>
            </a:xfrm>
            <a:prstGeom prst="rect">
              <a:avLst/>
            </a:prstGeom>
          </p:spPr>
        </p:pic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59322" y="6228659"/>
              <a:ext cx="403167" cy="394855"/>
            </a:xfrm>
            <a:prstGeom prst="rect">
              <a:avLst/>
            </a:prstGeom>
          </p:spPr>
        </p:pic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88723" y="6259702"/>
              <a:ext cx="527625" cy="360000"/>
            </a:xfrm>
            <a:prstGeom prst="rect">
              <a:avLst/>
            </a:prstGeom>
          </p:spPr>
        </p:pic>
        <p:pic>
          <p:nvPicPr>
            <p:cNvPr id="24" name="Picture 15" descr="POLYTECH_Q"/>
            <p:cNvPicPr>
              <a:picLocks noChangeAspect="1" noChangeArrowheads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01351" y="6255320"/>
              <a:ext cx="566608" cy="36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16" descr="logo_univ_orleans"/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" b="2857"/>
            <a:stretch/>
          </p:blipFill>
          <p:spPr bwMode="auto">
            <a:xfrm>
              <a:off x="1675764" y="6255320"/>
              <a:ext cx="621282" cy="36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" name="Image 30"/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0296" y="6253716"/>
              <a:ext cx="390698" cy="361604"/>
            </a:xfrm>
            <a:prstGeom prst="rect">
              <a:avLst/>
            </a:prstGeom>
          </p:spPr>
        </p:pic>
      </p:grpSp>
      <p:pic>
        <p:nvPicPr>
          <p:cNvPr id="13" name="Image 12" descr="logo_Polytech_mention_big.png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97" y="476672"/>
            <a:ext cx="4204755" cy="11916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65" y="4777380"/>
            <a:ext cx="10231791" cy="861420"/>
          </a:xfrm>
        </p:spPr>
        <p:txBody>
          <a:bodyPr anchor="t"/>
          <a:lstStyle>
            <a:lvl1pPr marL="0" indent="0" algn="l">
              <a:buNone/>
              <a:defRPr cap="small" baseline="0">
                <a:solidFill>
                  <a:srgbClr val="898989"/>
                </a:solidFill>
                <a:latin typeface="Candara" panose="020E0502030303020204" pitchFamily="34" charset="0"/>
              </a:defRPr>
            </a:lvl1pPr>
            <a:lvl2pPr marL="108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6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39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2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0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59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67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65" y="2099733"/>
            <a:ext cx="10231791" cy="267764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9587A2F-E0D0-45C6-8B44-63FAC4CEC98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315" y="6183320"/>
            <a:ext cx="37402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26675"/>
      </p:ext>
    </p:extLst>
  </p:cSld>
  <p:clrMapOvr>
    <a:masterClrMapping/>
  </p:clrMapOvr>
  <p:transition spd="slow" advClick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829" y="1555200"/>
            <a:ext cx="10972800" cy="4173796"/>
          </a:xfrm>
        </p:spPr>
        <p:txBody>
          <a:bodyPr/>
          <a:lstStyle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78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fr-FR" dirty="0"/>
              <a:t>Classes génériques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788">
                <a:latin typeface="Candara" panose="020E0502030303020204" pitchFamily="34" charset="0"/>
              </a:defRPr>
            </a:lvl1pPr>
          </a:lstStyle>
          <a:p>
            <a:fld id="{E3F79594-089A-43BC-A72C-31F6634C2757}" type="slidenum">
              <a:rPr lang="fr-FR" altLang="fr-FR" smtClean="0"/>
              <a:pPr/>
              <a:t>‹N°›</a:t>
            </a:fld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3738445756"/>
      </p:ext>
    </p:extLst>
  </p:cSld>
  <p:clrMapOvr>
    <a:masterClrMapping/>
  </p:clrMapOvr>
  <p:transition spd="slow" advClick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7828" y="1556799"/>
            <a:ext cx="5376000" cy="4190863"/>
          </a:xfrm>
        </p:spPr>
        <p:txBody>
          <a:bodyPr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4629" y="1556798"/>
            <a:ext cx="5376000" cy="4190865"/>
          </a:xfrm>
        </p:spPr>
        <p:txBody>
          <a:bodyPr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53317D2C-5D59-4FAD-B710-592B9DDF9916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34912616"/>
      </p:ext>
    </p:extLst>
  </p:cSld>
  <p:clrMapOvr>
    <a:masterClrMapping/>
  </p:clrMapOvr>
  <p:transition spd="slow" advClick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200" y="1555200"/>
            <a:ext cx="5376000" cy="576262"/>
          </a:xfrm>
        </p:spPr>
        <p:txBody>
          <a:bodyPr anchor="b">
            <a:noAutofit/>
          </a:bodyPr>
          <a:lstStyle>
            <a:lvl1pPr marL="0" indent="0">
              <a:buNone/>
              <a:defRPr sz="633" b="0">
                <a:solidFill>
                  <a:srgbClr val="898989"/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199" y="2133055"/>
            <a:ext cx="5376000" cy="3604554"/>
          </a:xfrm>
        </p:spPr>
        <p:txBody>
          <a:bodyPr>
            <a:normAutofit/>
          </a:bodyPr>
          <a:lstStyle>
            <a:lvl1pPr>
              <a:defRPr sz="570"/>
            </a:lvl1pPr>
            <a:lvl2pPr>
              <a:defRPr sz="506"/>
            </a:lvl2pPr>
            <a:lvl3pPr>
              <a:defRPr sz="443"/>
            </a:lvl3pPr>
            <a:lvl4pPr>
              <a:defRPr sz="348"/>
            </a:lvl4pPr>
            <a:lvl5pPr>
              <a:defRPr sz="332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4629" y="1555200"/>
            <a:ext cx="5376000" cy="576262"/>
          </a:xfrm>
        </p:spPr>
        <p:txBody>
          <a:bodyPr anchor="b">
            <a:noAutofit/>
          </a:bodyPr>
          <a:lstStyle>
            <a:lvl1pPr marL="0" indent="0">
              <a:buNone/>
              <a:defRPr sz="633" b="0">
                <a:solidFill>
                  <a:srgbClr val="898989"/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4629" y="2131463"/>
            <a:ext cx="5376000" cy="36061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fr-FR" sz="570" dirty="0" smtClean="0"/>
            </a:lvl1pPr>
            <a:lvl2pPr>
              <a:defRPr lang="fr-FR" sz="506" dirty="0" smtClean="0"/>
            </a:lvl2pPr>
            <a:lvl3pPr>
              <a:defRPr lang="fr-FR" sz="443" dirty="0" smtClean="0"/>
            </a:lvl3pPr>
            <a:lvl4pPr>
              <a:defRPr lang="fr-FR" sz="348" dirty="0" smtClean="0"/>
            </a:lvl4pPr>
            <a:lvl5pPr>
              <a:defRPr lang="en-US" sz="332" dirty="0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09612BA2-3592-459E-8298-A20D91D3F990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09756748"/>
      </p:ext>
    </p:extLst>
  </p:cSld>
  <p:clrMapOvr>
    <a:masterClrMapping/>
  </p:clrMapOvr>
  <p:transition spd="slow" advClick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87200" y="180000"/>
            <a:ext cx="10972800" cy="11448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30DDC102-CBC0-4B1B-82E4-FE250434E6E5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63393814"/>
      </p:ext>
    </p:extLst>
  </p:cSld>
  <p:clrMapOvr>
    <a:masterClrMapping/>
  </p:clrMapOvr>
  <p:transition spd="slow" advClick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E32E93DB-6FAB-4335-A3EE-0B715EACE693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98645119"/>
      </p:ext>
    </p:extLst>
  </p:cSld>
  <p:clrMapOvr>
    <a:masterClrMapping/>
  </p:clrMapOvr>
  <p:transition spd="slow" advClick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B1BC55BC-04E6-43F4-B7BD-7DDAE78F59D8}" type="slidenum">
              <a:rPr lang="fr-FR" altLang="fr-FR" smtClean="0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4535576"/>
      </p:ext>
    </p:extLst>
  </p:cSld>
  <p:clrMapOvr>
    <a:masterClrMapping/>
  </p:clrMapOvr>
  <p:transition spd="slow" advClick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61" y="1859929"/>
            <a:ext cx="3141879" cy="576262"/>
          </a:xfrm>
        </p:spPr>
        <p:txBody>
          <a:bodyPr anchor="b">
            <a:noAutofit/>
          </a:bodyPr>
          <a:lstStyle>
            <a:lvl1pPr marL="0" indent="0">
              <a:buNone/>
              <a:defRPr sz="57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5" y="2436204"/>
            <a:ext cx="3141880" cy="2847293"/>
          </a:xfrm>
        </p:spPr>
        <p:txBody>
          <a:bodyPr anchor="t">
            <a:normAutofit/>
          </a:bodyPr>
          <a:lstStyle>
            <a:lvl1pPr marL="0" indent="0">
              <a:buNone/>
              <a:defRPr sz="332"/>
            </a:lvl1pPr>
            <a:lvl2pPr marL="108499" indent="0">
              <a:buNone/>
              <a:defRPr sz="285"/>
            </a:lvl2pPr>
            <a:lvl3pPr marL="216997" indent="0">
              <a:buNone/>
              <a:defRPr sz="237"/>
            </a:lvl3pPr>
            <a:lvl4pPr marL="325496" indent="0">
              <a:buNone/>
              <a:defRPr sz="214"/>
            </a:lvl4pPr>
            <a:lvl5pPr marL="433994" indent="0">
              <a:buNone/>
              <a:defRPr sz="214"/>
            </a:lvl5pPr>
            <a:lvl6pPr marL="542492" indent="0">
              <a:buNone/>
              <a:defRPr sz="214"/>
            </a:lvl6pPr>
            <a:lvl7pPr marL="650990" indent="0">
              <a:buNone/>
              <a:defRPr sz="214"/>
            </a:lvl7pPr>
            <a:lvl8pPr marL="759489" indent="0">
              <a:buNone/>
              <a:defRPr sz="214"/>
            </a:lvl8pPr>
            <a:lvl9pPr marL="867988" indent="0">
              <a:buNone/>
              <a:defRPr sz="21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9" y="1859927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57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9" y="243620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332"/>
            </a:lvl1pPr>
            <a:lvl2pPr marL="108499" indent="0">
              <a:buNone/>
              <a:defRPr sz="285"/>
            </a:lvl2pPr>
            <a:lvl3pPr marL="216997" indent="0">
              <a:buNone/>
              <a:defRPr sz="237"/>
            </a:lvl3pPr>
            <a:lvl4pPr marL="325496" indent="0">
              <a:buNone/>
              <a:defRPr sz="214"/>
            </a:lvl4pPr>
            <a:lvl5pPr marL="433994" indent="0">
              <a:buNone/>
              <a:defRPr sz="214"/>
            </a:lvl5pPr>
            <a:lvl6pPr marL="542492" indent="0">
              <a:buNone/>
              <a:defRPr sz="214"/>
            </a:lvl6pPr>
            <a:lvl7pPr marL="650990" indent="0">
              <a:buNone/>
              <a:defRPr sz="214"/>
            </a:lvl7pPr>
            <a:lvl8pPr marL="759489" indent="0">
              <a:buNone/>
              <a:defRPr sz="214"/>
            </a:lvl8pPr>
            <a:lvl9pPr marL="867988" indent="0">
              <a:buNone/>
              <a:defRPr sz="21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7" y="1859928"/>
            <a:ext cx="3145731" cy="576262"/>
          </a:xfrm>
        </p:spPr>
        <p:txBody>
          <a:bodyPr anchor="b">
            <a:noAutofit/>
          </a:bodyPr>
          <a:lstStyle>
            <a:lvl1pPr marL="0" indent="0">
              <a:buNone/>
              <a:defRPr sz="57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8" y="2436196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332"/>
            </a:lvl1pPr>
            <a:lvl2pPr marL="108499" indent="0">
              <a:buNone/>
              <a:defRPr sz="285"/>
            </a:lvl2pPr>
            <a:lvl3pPr marL="216997" indent="0">
              <a:buNone/>
              <a:defRPr sz="237"/>
            </a:lvl3pPr>
            <a:lvl4pPr marL="325496" indent="0">
              <a:buNone/>
              <a:defRPr sz="214"/>
            </a:lvl4pPr>
            <a:lvl5pPr marL="433994" indent="0">
              <a:buNone/>
              <a:defRPr sz="214"/>
            </a:lvl5pPr>
            <a:lvl6pPr marL="542492" indent="0">
              <a:buNone/>
              <a:defRPr sz="214"/>
            </a:lvl6pPr>
            <a:lvl7pPr marL="650990" indent="0">
              <a:buNone/>
              <a:defRPr sz="214"/>
            </a:lvl7pPr>
            <a:lvl8pPr marL="759489" indent="0">
              <a:buNone/>
              <a:defRPr sz="214"/>
            </a:lvl8pPr>
            <a:lvl9pPr marL="867988" indent="0">
              <a:buNone/>
              <a:defRPr sz="21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182607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182607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18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E32E93DB-6FAB-4335-A3EE-0B715EACE693}" type="slidenum">
              <a:rPr lang="fr-FR" altLang="fr-FR" smtClean="0"/>
              <a:pPr/>
              <a:t>‹N°›</a:t>
            </a:fld>
            <a:endParaRPr lang="fr-FR" altLang="fr-FR"/>
          </a:p>
        </p:txBody>
      </p:sp>
      <p:sp>
        <p:nvSpPr>
          <p:cNvPr id="23" name="Title Placeholder 1"/>
          <p:cNvSpPr>
            <a:spLocks noGrp="1"/>
          </p:cNvSpPr>
          <p:nvPr>
            <p:ph type="title"/>
          </p:nvPr>
        </p:nvSpPr>
        <p:spPr bwMode="gray">
          <a:xfrm>
            <a:off x="787829" y="180000"/>
            <a:ext cx="10972800" cy="114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903504"/>
      </p:ext>
    </p:extLst>
  </p:cSld>
  <p:clrMapOvr>
    <a:masterClrMapping/>
  </p:clrMapOvr>
  <p:transition spd="slow" advClick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62" y="3789273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57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61" y="1859929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80"/>
            </a:lvl1pPr>
            <a:lvl2pPr marL="108499" indent="0">
              <a:buNone/>
              <a:defRPr sz="380"/>
            </a:lvl2pPr>
            <a:lvl3pPr marL="216997" indent="0">
              <a:buNone/>
              <a:defRPr sz="380"/>
            </a:lvl3pPr>
            <a:lvl4pPr marL="325496" indent="0">
              <a:buNone/>
              <a:defRPr sz="380"/>
            </a:lvl4pPr>
            <a:lvl5pPr marL="433994" indent="0">
              <a:buNone/>
              <a:defRPr sz="380"/>
            </a:lvl5pPr>
            <a:lvl6pPr marL="542492" indent="0">
              <a:buNone/>
              <a:defRPr sz="380"/>
            </a:lvl6pPr>
            <a:lvl7pPr marL="650990" indent="0">
              <a:buNone/>
              <a:defRPr sz="380"/>
            </a:lvl7pPr>
            <a:lvl8pPr marL="759489" indent="0">
              <a:buNone/>
              <a:defRPr sz="380"/>
            </a:lvl8pPr>
            <a:lvl9pPr marL="867988" indent="0">
              <a:buNone/>
              <a:defRPr sz="38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62" y="4365535"/>
            <a:ext cx="3050439" cy="917952"/>
          </a:xfrm>
        </p:spPr>
        <p:txBody>
          <a:bodyPr anchor="t">
            <a:normAutofit/>
          </a:bodyPr>
          <a:lstStyle>
            <a:lvl1pPr marL="0" indent="0">
              <a:buNone/>
              <a:defRPr sz="332"/>
            </a:lvl1pPr>
            <a:lvl2pPr marL="108499" indent="0">
              <a:buNone/>
              <a:defRPr sz="285"/>
            </a:lvl2pPr>
            <a:lvl3pPr marL="216997" indent="0">
              <a:buNone/>
              <a:defRPr sz="237"/>
            </a:lvl3pPr>
            <a:lvl4pPr marL="325496" indent="0">
              <a:buNone/>
              <a:defRPr sz="214"/>
            </a:lvl4pPr>
            <a:lvl5pPr marL="433994" indent="0">
              <a:buNone/>
              <a:defRPr sz="214"/>
            </a:lvl5pPr>
            <a:lvl6pPr marL="542492" indent="0">
              <a:buNone/>
              <a:defRPr sz="214"/>
            </a:lvl6pPr>
            <a:lvl7pPr marL="650990" indent="0">
              <a:buNone/>
              <a:defRPr sz="214"/>
            </a:lvl7pPr>
            <a:lvl8pPr marL="759489" indent="0">
              <a:buNone/>
              <a:defRPr sz="214"/>
            </a:lvl8pPr>
            <a:lvl9pPr marL="867988" indent="0">
              <a:buNone/>
              <a:defRPr sz="21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73" y="3789280"/>
            <a:ext cx="3050439" cy="576263"/>
          </a:xfrm>
        </p:spPr>
        <p:txBody>
          <a:bodyPr anchor="b">
            <a:noAutofit/>
          </a:bodyPr>
          <a:lstStyle>
            <a:lvl1pPr marL="0" indent="0">
              <a:buNone/>
              <a:defRPr sz="57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5" y="1859929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80"/>
            </a:lvl1pPr>
            <a:lvl2pPr marL="108499" indent="0">
              <a:buNone/>
              <a:defRPr sz="380"/>
            </a:lvl2pPr>
            <a:lvl3pPr marL="216997" indent="0">
              <a:buNone/>
              <a:defRPr sz="380"/>
            </a:lvl3pPr>
            <a:lvl4pPr marL="325496" indent="0">
              <a:buNone/>
              <a:defRPr sz="380"/>
            </a:lvl4pPr>
            <a:lvl5pPr marL="433994" indent="0">
              <a:buNone/>
              <a:defRPr sz="380"/>
            </a:lvl5pPr>
            <a:lvl6pPr marL="542492" indent="0">
              <a:buNone/>
              <a:defRPr sz="380"/>
            </a:lvl6pPr>
            <a:lvl7pPr marL="650990" indent="0">
              <a:buNone/>
              <a:defRPr sz="380"/>
            </a:lvl7pPr>
            <a:lvl8pPr marL="759489" indent="0">
              <a:buNone/>
              <a:defRPr sz="380"/>
            </a:lvl8pPr>
            <a:lvl9pPr marL="867988" indent="0">
              <a:buNone/>
              <a:defRPr sz="38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81" y="4365534"/>
            <a:ext cx="3050439" cy="917952"/>
          </a:xfrm>
        </p:spPr>
        <p:txBody>
          <a:bodyPr anchor="t">
            <a:normAutofit/>
          </a:bodyPr>
          <a:lstStyle>
            <a:lvl1pPr marL="0" indent="0">
              <a:buNone/>
              <a:defRPr sz="332"/>
            </a:lvl1pPr>
            <a:lvl2pPr marL="108499" indent="0">
              <a:buNone/>
              <a:defRPr sz="285"/>
            </a:lvl2pPr>
            <a:lvl3pPr marL="216997" indent="0">
              <a:buNone/>
              <a:defRPr sz="237"/>
            </a:lvl3pPr>
            <a:lvl4pPr marL="325496" indent="0">
              <a:buNone/>
              <a:defRPr sz="214"/>
            </a:lvl4pPr>
            <a:lvl5pPr marL="433994" indent="0">
              <a:buNone/>
              <a:defRPr sz="214"/>
            </a:lvl5pPr>
            <a:lvl6pPr marL="542492" indent="0">
              <a:buNone/>
              <a:defRPr sz="214"/>
            </a:lvl6pPr>
            <a:lvl7pPr marL="650990" indent="0">
              <a:buNone/>
              <a:defRPr sz="214"/>
            </a:lvl7pPr>
            <a:lvl8pPr marL="759489" indent="0">
              <a:buNone/>
              <a:defRPr sz="214"/>
            </a:lvl8pPr>
            <a:lvl9pPr marL="867988" indent="0">
              <a:buNone/>
              <a:defRPr sz="21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6" y="3789274"/>
            <a:ext cx="3051096" cy="576262"/>
          </a:xfrm>
        </p:spPr>
        <p:txBody>
          <a:bodyPr anchor="b">
            <a:noAutofit/>
          </a:bodyPr>
          <a:lstStyle>
            <a:lvl1pPr marL="0" indent="0">
              <a:buNone/>
              <a:defRPr sz="57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08499" indent="0">
              <a:buNone/>
              <a:defRPr sz="475" b="1"/>
            </a:lvl2pPr>
            <a:lvl3pPr marL="216997" indent="0">
              <a:buNone/>
              <a:defRPr sz="428" b="1"/>
            </a:lvl3pPr>
            <a:lvl4pPr marL="325496" indent="0">
              <a:buNone/>
              <a:defRPr sz="380" b="1"/>
            </a:lvl4pPr>
            <a:lvl5pPr marL="433994" indent="0">
              <a:buNone/>
              <a:defRPr sz="380" b="1"/>
            </a:lvl5pPr>
            <a:lvl6pPr marL="542492" indent="0">
              <a:buNone/>
              <a:defRPr sz="380" b="1"/>
            </a:lvl6pPr>
            <a:lvl7pPr marL="650990" indent="0">
              <a:buNone/>
              <a:defRPr sz="380" b="1"/>
            </a:lvl7pPr>
            <a:lvl8pPr marL="759489" indent="0">
              <a:buNone/>
              <a:defRPr sz="380" b="1"/>
            </a:lvl8pPr>
            <a:lvl9pPr marL="867988" indent="0">
              <a:buNone/>
              <a:defRPr sz="38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40" y="1859929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80"/>
            </a:lvl1pPr>
            <a:lvl2pPr marL="108499" indent="0">
              <a:buNone/>
              <a:defRPr sz="380"/>
            </a:lvl2pPr>
            <a:lvl3pPr marL="216997" indent="0">
              <a:buNone/>
              <a:defRPr sz="380"/>
            </a:lvl3pPr>
            <a:lvl4pPr marL="325496" indent="0">
              <a:buNone/>
              <a:defRPr sz="380"/>
            </a:lvl4pPr>
            <a:lvl5pPr marL="433994" indent="0">
              <a:buNone/>
              <a:defRPr sz="380"/>
            </a:lvl5pPr>
            <a:lvl6pPr marL="542492" indent="0">
              <a:buNone/>
              <a:defRPr sz="380"/>
            </a:lvl6pPr>
            <a:lvl7pPr marL="650990" indent="0">
              <a:buNone/>
              <a:defRPr sz="380"/>
            </a:lvl7pPr>
            <a:lvl8pPr marL="759489" indent="0">
              <a:buNone/>
              <a:defRPr sz="380"/>
            </a:lvl8pPr>
            <a:lvl9pPr marL="867988" indent="0">
              <a:buNone/>
              <a:defRPr sz="38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4365533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332"/>
            </a:lvl1pPr>
            <a:lvl2pPr marL="108499" indent="0">
              <a:buNone/>
              <a:defRPr sz="285"/>
            </a:lvl2pPr>
            <a:lvl3pPr marL="216997" indent="0">
              <a:buNone/>
              <a:defRPr sz="237"/>
            </a:lvl3pPr>
            <a:lvl4pPr marL="325496" indent="0">
              <a:buNone/>
              <a:defRPr sz="214"/>
            </a:lvl4pPr>
            <a:lvl5pPr marL="433994" indent="0">
              <a:buNone/>
              <a:defRPr sz="214"/>
            </a:lvl5pPr>
            <a:lvl6pPr marL="542492" indent="0">
              <a:buNone/>
              <a:defRPr sz="214"/>
            </a:lvl6pPr>
            <a:lvl7pPr marL="650990" indent="0">
              <a:buNone/>
              <a:defRPr sz="214"/>
            </a:lvl7pPr>
            <a:lvl8pPr marL="759489" indent="0">
              <a:buNone/>
              <a:defRPr sz="214"/>
            </a:lvl8pPr>
            <a:lvl9pPr marL="867988" indent="0">
              <a:buNone/>
              <a:defRPr sz="21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2" y="1826075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1" y="1826075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4"/>
          <p:cNvSpPr>
            <a:spLocks noGrp="1"/>
          </p:cNvSpPr>
          <p:nvPr>
            <p:ph type="ftr" sz="quarter" idx="2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380">
                <a:latin typeface="Candara" panose="020E0502030303020204" pitchFamily="34" charset="0"/>
              </a:defRPr>
            </a:lvl1pPr>
          </a:lstStyle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E32E93DB-6FAB-4335-A3EE-0B715EACE693}" type="slidenum">
              <a:rPr lang="fr-FR" altLang="fr-FR" smtClean="0"/>
              <a:pPr/>
              <a:t>‹N°›</a:t>
            </a:fld>
            <a:endParaRPr lang="fr-FR" altLang="fr-FR"/>
          </a:p>
        </p:txBody>
      </p:sp>
      <p:sp>
        <p:nvSpPr>
          <p:cNvPr id="21" name="Title Placeholder 1"/>
          <p:cNvSpPr>
            <a:spLocks noGrp="1"/>
          </p:cNvSpPr>
          <p:nvPr>
            <p:ph type="title"/>
          </p:nvPr>
        </p:nvSpPr>
        <p:spPr bwMode="gray">
          <a:xfrm>
            <a:off x="787829" y="180000"/>
            <a:ext cx="10972800" cy="114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48903"/>
      </p:ext>
    </p:extLst>
  </p:cSld>
  <p:clrMapOvr>
    <a:masterClrMapping/>
  </p:clrMapOvr>
  <p:transition spd="slow" advClick="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7829" y="1849874"/>
            <a:ext cx="10972800" cy="3867638"/>
          </a:xfrm>
        </p:spPr>
        <p:txBody>
          <a:bodyPr vert="eaVert" anchor="t" anchorCtr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/>
          <a:lstStyle>
            <a:lvl1pPr algn="r">
              <a:defRPr sz="332">
                <a:latin typeface="Candara" panose="020E0502030303020204" pitchFamily="34" charset="0"/>
              </a:defRPr>
            </a:lvl1pPr>
          </a:lstStyle>
          <a:p>
            <a:fld id="{13AA3124-79FE-4A6B-BB99-4AACABDA52F2}" type="slidenum">
              <a:rPr lang="fr-FR" altLang="fr-FR" smtClean="0"/>
              <a:pPr/>
              <a:t>‹N°›</a:t>
            </a:fld>
            <a:endParaRPr lang="fr-FR" altLang="fr-F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gray">
          <a:xfrm>
            <a:off x="787829" y="180000"/>
            <a:ext cx="10972800" cy="114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08430"/>
      </p:ext>
    </p:extLst>
  </p:cSld>
  <p:clrMapOvr>
    <a:masterClrMapping/>
  </p:clrMapOvr>
  <p:transition spd="slow" advClick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0" y="4878000"/>
            <a:ext cx="12192000" cy="1980000"/>
            <a:chOff x="0" y="4878000"/>
            <a:chExt cx="12192000" cy="1980000"/>
          </a:xfrm>
        </p:grpSpPr>
        <p:pic>
          <p:nvPicPr>
            <p:cNvPr id="7" name="Image 6"/>
            <p:cNvPicPr>
              <a:picLocks noChangeAspect="1"/>
            </p:cNvPicPr>
            <p:nvPr userDrawn="1"/>
          </p:nvPicPr>
          <p:blipFill rotWithShape="1">
            <a:blip r:embed="rId12"/>
            <a:srcRect l="5226"/>
            <a:stretch/>
          </p:blipFill>
          <p:spPr>
            <a:xfrm>
              <a:off x="0" y="4878000"/>
              <a:ext cx="12192000" cy="1980000"/>
            </a:xfrm>
            <a:prstGeom prst="rect">
              <a:avLst/>
            </a:prstGeom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55990" y="6258098"/>
              <a:ext cx="390698" cy="361604"/>
            </a:xfrm>
            <a:prstGeom prst="rect">
              <a:avLst/>
            </a:prstGeom>
          </p:spPr>
        </p:pic>
        <p:pic>
          <p:nvPicPr>
            <p:cNvPr id="15" name="Picture 15" descr="POLYTECH_Q"/>
            <p:cNvPicPr>
              <a:picLocks noChangeAspect="1" noChangeArrowheads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01351" y="6255320"/>
              <a:ext cx="566608" cy="36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16" descr="logo_univ_orleans"/>
            <p:cNvPicPr>
              <a:picLocks noChangeAspect="1" noChangeArrowheads="1"/>
            </p:cNvPicPr>
            <p:nvPr userDrawn="1"/>
          </p:nvPicPr>
          <p:blipFill rotWithShape="1"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" b="2857"/>
            <a:stretch/>
          </p:blipFill>
          <p:spPr bwMode="auto">
            <a:xfrm>
              <a:off x="1680556" y="6255320"/>
              <a:ext cx="621282" cy="36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787829" y="180000"/>
            <a:ext cx="10972800" cy="114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829" y="1504800"/>
            <a:ext cx="10972800" cy="451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" y="764704"/>
            <a:ext cx="719403" cy="93762"/>
          </a:xfrm>
          <a:prstGeom prst="rect">
            <a:avLst/>
          </a:prstGeom>
          <a:gradFill>
            <a:gsLst>
              <a:gs pos="0">
                <a:srgbClr val="0070C0"/>
              </a:gs>
              <a:gs pos="75000">
                <a:srgbClr val="00B0F0"/>
              </a:gs>
              <a:gs pos="100000">
                <a:srgbClr val="00B0F0">
                  <a:alpha val="5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570" dirty="0"/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4333" y="6309331"/>
            <a:ext cx="3859795" cy="304801"/>
          </a:xfrm>
          <a:prstGeom prst="rect">
            <a:avLst/>
          </a:prstGeom>
        </p:spPr>
        <p:txBody>
          <a:bodyPr anchor="ctr"/>
          <a:lstStyle>
            <a:lvl1pPr algn="ctr">
              <a:defRPr sz="78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fr-FR" dirty="0"/>
              <a:t>Classes génériques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629" y="6309320"/>
            <a:ext cx="720000" cy="306000"/>
          </a:xfrm>
          <a:prstGeom prst="rect">
            <a:avLst/>
          </a:prstGeom>
        </p:spPr>
        <p:txBody>
          <a:bodyPr anchor="ctr"/>
          <a:lstStyle>
            <a:lvl1pPr algn="r">
              <a:defRPr sz="380">
                <a:latin typeface="Candara" panose="020E0502030303020204" pitchFamily="34" charset="0"/>
              </a:defRPr>
            </a:lvl1pPr>
          </a:lstStyle>
          <a:p>
            <a:fld id="{E32E93DB-6FAB-4335-A3EE-0B715EACE693}" type="slidenum">
              <a:rPr lang="fr-FR" altLang="fr-FR" smtClean="0"/>
              <a:pPr/>
              <a:t>‹N°›</a:t>
            </a:fld>
            <a:endParaRPr lang="fr-FR" alt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776DC70-D1DD-405D-B2D0-4AE26932F83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6183320"/>
            <a:ext cx="37402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2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ransition spd="slow" advClick="0">
    <p:wipe/>
  </p:transition>
  <p:hf hdr="0" dt="0"/>
  <p:txStyles>
    <p:titleStyle>
      <a:lvl1pPr algn="l" defTabSz="108499" rtl="0" eaLnBrk="1" latinLnBrk="0" hangingPunct="1">
        <a:spcBef>
          <a:spcPct val="0"/>
        </a:spcBef>
        <a:buNone/>
        <a:defRPr sz="2100" b="1" i="0" kern="1200">
          <a:solidFill>
            <a:srgbClr val="00B0F0"/>
          </a:solidFill>
          <a:latin typeface="Candara" panose="020E05020303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81374" indent="-81374" algn="l" defTabSz="108499" rtl="0" eaLnBrk="1" latinLnBrk="0" hangingPunct="1">
        <a:spcBef>
          <a:spcPts val="237"/>
        </a:spcBef>
        <a:spcAft>
          <a:spcPts val="0"/>
        </a:spcAft>
        <a:buClr>
          <a:srgbClr val="315683"/>
        </a:buClr>
        <a:buSzPct val="80000"/>
        <a:buFont typeface="Wingdings 3" charset="2"/>
        <a:buChar char=""/>
        <a:defRPr sz="2100" b="0" i="0" kern="1200">
          <a:solidFill>
            <a:srgbClr val="315683"/>
          </a:solidFill>
          <a:latin typeface="Candara" panose="020E0502030303020204" pitchFamily="34" charset="0"/>
          <a:ea typeface="+mn-ea"/>
          <a:cs typeface="+mn-cs"/>
        </a:defRPr>
      </a:lvl1pPr>
      <a:lvl2pPr marL="176310" indent="-67812" algn="l" defTabSz="108499" rtl="0" eaLnBrk="1" latinLnBrk="0" hangingPunct="1">
        <a:spcBef>
          <a:spcPts val="237"/>
        </a:spcBef>
        <a:spcAft>
          <a:spcPts val="0"/>
        </a:spcAft>
        <a:buClr>
          <a:srgbClr val="315683"/>
        </a:buClr>
        <a:buSzPct val="80000"/>
        <a:buFont typeface="Wingdings 3" charset="2"/>
        <a:buChar char=""/>
        <a:defRPr sz="1800" b="0" i="0" kern="1200">
          <a:solidFill>
            <a:srgbClr val="315683"/>
          </a:solidFill>
          <a:latin typeface="Candara" panose="020E0502030303020204" pitchFamily="34" charset="0"/>
          <a:ea typeface="+mn-ea"/>
          <a:cs typeface="+mn-cs"/>
        </a:defRPr>
      </a:lvl2pPr>
      <a:lvl3pPr marL="271247" indent="-54249" algn="l" defTabSz="108499" rtl="0" eaLnBrk="1" latinLnBrk="0" hangingPunct="1">
        <a:spcBef>
          <a:spcPts val="237"/>
        </a:spcBef>
        <a:spcAft>
          <a:spcPts val="0"/>
        </a:spcAft>
        <a:buClr>
          <a:srgbClr val="315683"/>
        </a:buClr>
        <a:buSzPct val="80000"/>
        <a:buFont typeface="Wingdings 3" charset="2"/>
        <a:buChar char=""/>
        <a:defRPr sz="1500" b="0" i="0" kern="1200">
          <a:solidFill>
            <a:srgbClr val="315683"/>
          </a:solidFill>
          <a:latin typeface="Candara" panose="020E0502030303020204" pitchFamily="34" charset="0"/>
          <a:ea typeface="+mn-ea"/>
          <a:cs typeface="+mn-cs"/>
        </a:defRPr>
      </a:lvl3pPr>
      <a:lvl4pPr marL="379745" indent="-54249" algn="l" defTabSz="108499" rtl="0" eaLnBrk="1" latinLnBrk="0" hangingPunct="1">
        <a:spcBef>
          <a:spcPts val="237"/>
        </a:spcBef>
        <a:spcAft>
          <a:spcPts val="0"/>
        </a:spcAft>
        <a:buClr>
          <a:srgbClr val="315683"/>
        </a:buClr>
        <a:buSzPct val="80000"/>
        <a:buFont typeface="Wingdings 3" charset="2"/>
        <a:buChar char=""/>
        <a:defRPr sz="1200" b="0" i="0" kern="1200">
          <a:solidFill>
            <a:srgbClr val="315683"/>
          </a:solidFill>
          <a:latin typeface="Candara" panose="020E0502030303020204" pitchFamily="34" charset="0"/>
          <a:ea typeface="+mn-ea"/>
          <a:cs typeface="+mn-cs"/>
        </a:defRPr>
      </a:lvl4pPr>
      <a:lvl5pPr marL="488243" indent="-54249" algn="l" defTabSz="108499" rtl="0" eaLnBrk="1" latinLnBrk="0" hangingPunct="1">
        <a:spcBef>
          <a:spcPts val="237"/>
        </a:spcBef>
        <a:spcAft>
          <a:spcPts val="0"/>
        </a:spcAft>
        <a:buClr>
          <a:srgbClr val="315683"/>
        </a:buClr>
        <a:buSzPct val="80000"/>
        <a:buFont typeface="Wingdings 3" charset="2"/>
        <a:buChar char=""/>
        <a:defRPr sz="1050" b="0" i="0" kern="1200">
          <a:solidFill>
            <a:srgbClr val="315683"/>
          </a:solidFill>
          <a:latin typeface="Candara" panose="020E0502030303020204" pitchFamily="34" charset="0"/>
          <a:ea typeface="+mn-ea"/>
          <a:cs typeface="+mn-cs"/>
        </a:defRPr>
      </a:lvl5pPr>
      <a:lvl6pPr marL="596742" indent="-54249" algn="l" defTabSz="108499" rtl="0" eaLnBrk="1" latinLnBrk="0" hangingPunct="1">
        <a:spcBef>
          <a:spcPts val="23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705240" indent="-54249" algn="l" defTabSz="108499" rtl="0" eaLnBrk="1" latinLnBrk="0" hangingPunct="1">
        <a:spcBef>
          <a:spcPts val="23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813739" indent="-54249" algn="l" defTabSz="108499" rtl="0" eaLnBrk="1" latinLnBrk="0" hangingPunct="1">
        <a:spcBef>
          <a:spcPts val="23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922237" indent="-54249" algn="l" defTabSz="108499" rtl="0" eaLnBrk="1" latinLnBrk="0" hangingPunct="1">
        <a:spcBef>
          <a:spcPts val="23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1pPr>
      <a:lvl2pPr marL="108499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2pPr>
      <a:lvl3pPr marL="216997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3pPr>
      <a:lvl4pPr marL="325496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4pPr>
      <a:lvl5pPr marL="433994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5pPr>
      <a:lvl6pPr marL="542492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6pPr>
      <a:lvl7pPr marL="650990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7pPr>
      <a:lvl8pPr marL="759489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8pPr>
      <a:lvl9pPr marL="867988" algn="l" defTabSz="108499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FD18C3FA-BB02-4D6F-97CC-494D64272D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altLang="fr-FR" dirty="0"/>
              <a:t>Christophe Léger</a:t>
            </a:r>
          </a:p>
          <a:p>
            <a:r>
              <a:rPr lang="fr-FR" altLang="fr-FR" dirty="0"/>
              <a:t>Polytech Orléans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2F9F1782-540D-4DA3-9912-9D273664B0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dirty="0"/>
              <a:t>Programmation C++</a:t>
            </a:r>
            <a:br>
              <a:rPr lang="fr-FR" altLang="fr-FR" dirty="0"/>
            </a:br>
            <a:r>
              <a:rPr lang="fr-FR" altLang="fr-FR" dirty="0"/>
              <a:t>Généricité - classes génériques</a:t>
            </a:r>
          </a:p>
        </p:txBody>
      </p:sp>
    </p:spTree>
  </p:cSld>
  <p:clrMapOvr>
    <a:masterClrMapping/>
  </p:clrMapOvr>
  <p:transition advTm="6748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6">
            <a:extLst>
              <a:ext uri="{FF2B5EF4-FFF2-40B4-BE49-F238E27FC236}">
                <a16:creationId xmlns:a16="http://schemas.microsoft.com/office/drawing/2014/main" id="{47F333A7-0140-4406-BE49-CD9CD4375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Classes génériques</a:t>
            </a:r>
          </a:p>
        </p:txBody>
      </p:sp>
      <p:sp>
        <p:nvSpPr>
          <p:cNvPr id="4101" name="Rectangle 7">
            <a:extLst>
              <a:ext uri="{FF2B5EF4-FFF2-40B4-BE49-F238E27FC236}">
                <a16:creationId xmlns:a16="http://schemas.microsoft.com/office/drawing/2014/main" id="{54E23585-6027-4F71-8280-E5F8471FA0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 dirty="0"/>
              <a:t>Comme les fonctions génériques, les classes génériques permettent de créer des classes en paramétrant des types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fr-FR" altLang="fr-FR" dirty="0"/>
              <a:t>descriptions générales de classes à partir d’un masque (ou empreinte, ou modèle) unique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fr-FR" altLang="fr-FR" dirty="0"/>
              <a:t>génération automatique (par le compilateur) de classes différentes associées à des types particuliers</a:t>
            </a:r>
          </a:p>
          <a:p>
            <a:pPr lvl="1"/>
            <a:endParaRPr lang="fr-FR" altLang="fr-FR" dirty="0"/>
          </a:p>
          <a:p>
            <a:r>
              <a:rPr lang="fr-FR" altLang="fr-FR" dirty="0"/>
              <a:t>Les classes génériques se comportent exactement comme les classes non génériques</a:t>
            </a:r>
          </a:p>
          <a:p>
            <a:endParaRPr lang="fr-FR" altLang="fr-FR" dirty="0"/>
          </a:p>
          <a:p>
            <a:r>
              <a:rPr lang="fr-FR" altLang="fr-FR" dirty="0"/>
              <a:t>Même si l’écriture peut paraître « intimidante », le code est en définitive plutôt habituel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2C32D625-6616-49B5-BC1F-F28FEF8D6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EC4F7B7-C020-49D3-84EF-46D6B31CD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2</a:t>
            </a:fld>
            <a:endParaRPr lang="fr-FR" altLang="fr-FR" dirty="0"/>
          </a:p>
        </p:txBody>
      </p:sp>
    </p:spTree>
  </p:cSld>
  <p:clrMapOvr>
    <a:masterClrMapping/>
  </p:clrMapOvr>
  <p:transition advTm="3663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1026">
            <a:extLst>
              <a:ext uri="{FF2B5EF4-FFF2-40B4-BE49-F238E27FC236}">
                <a16:creationId xmlns:a16="http://schemas.microsoft.com/office/drawing/2014/main" id="{C63DF865-813E-4D2F-9AA0-269CA503D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syntaxe</a:t>
            </a:r>
          </a:p>
        </p:txBody>
      </p:sp>
      <p:sp>
        <p:nvSpPr>
          <p:cNvPr id="5125" name="Rectangle 1027">
            <a:extLst>
              <a:ext uri="{FF2B5EF4-FFF2-40B4-BE49-F238E27FC236}">
                <a16:creationId xmlns:a16="http://schemas.microsoft.com/office/drawing/2014/main" id="{BCDB977D-C61D-4E38-92A3-FAA15E0E40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&lt;class T1, class T2, …, type V1, type V2, …&gt; class </a:t>
            </a: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endParaRPr lang="fr-FR" alt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		…</a:t>
            </a:r>
          </a:p>
          <a:p>
            <a:pPr marL="0" indent="0">
              <a:buNone/>
            </a:pP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r>
              <a:rPr lang="fr-FR" altLang="fr-FR" dirty="0"/>
              <a:t>Mot réservé </a:t>
            </a:r>
            <a:r>
              <a:rPr lang="fr-FR" altLang="fr-FR" dirty="0" err="1"/>
              <a:t>template</a:t>
            </a:r>
            <a:endParaRPr lang="fr-FR" altLang="fr-FR" dirty="0"/>
          </a:p>
          <a:p>
            <a:r>
              <a:rPr lang="fr-FR" altLang="fr-FR" dirty="0"/>
              <a:t>Liste de paramètres formels : paramètres de type ET VALEURS NUMÉRIQUES (précédés du mot réservé class, séparés par des virgules, délimités par &lt; et &gt;) </a:t>
            </a:r>
          </a:p>
          <a:p>
            <a:r>
              <a:rPr lang="fr-FR" altLang="fr-FR" dirty="0"/>
              <a:t>Déclaration de la classe, en utilisant les paramètres formels selon les besoins</a:t>
            </a:r>
          </a:p>
          <a:p>
            <a:r>
              <a:rPr lang="fr-FR" altLang="fr-FR" dirty="0"/>
              <a:t>Les méthodes définies à l’extérieur des classes génériques reprennent la liste des paramètres formels de la classe :</a:t>
            </a:r>
          </a:p>
          <a:p>
            <a:pPr marL="0" indent="0">
              <a:buNone/>
            </a:pP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&lt;class T1, …&gt; </a:t>
            </a:r>
            <a:r>
              <a:rPr lang="en-GB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TypeRetour</a:t>
            </a:r>
            <a:r>
              <a:rPr lang="en-GB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&lt;T1, …&gt;::</a:t>
            </a:r>
            <a:r>
              <a:rPr lang="en-GB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Methode</a:t>
            </a:r>
            <a:r>
              <a:rPr lang="en-GB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(Param)</a:t>
            </a:r>
            <a:endParaRPr lang="fr-FR" alt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FA6C50-2FBF-42F4-920E-B4364948A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A1C0257-4A69-4951-90D0-94B2F785E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3</a:t>
            </a:fld>
            <a:endParaRPr lang="fr-FR" altLang="fr-FR" dirty="0"/>
          </a:p>
        </p:txBody>
      </p:sp>
    </p:spTree>
  </p:cSld>
  <p:clrMapOvr>
    <a:masterClrMapping/>
  </p:clrMapOvr>
  <p:transition advTm="5142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>
            <a:extLst>
              <a:ext uri="{FF2B5EF4-FFF2-40B4-BE49-F238E27FC236}">
                <a16:creationId xmlns:a16="http://schemas.microsoft.com/office/drawing/2014/main" id="{2520278C-7E6B-4864-B66C-3B07D0419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remarques</a:t>
            </a:r>
          </a:p>
        </p:txBody>
      </p:sp>
      <p:sp>
        <p:nvSpPr>
          <p:cNvPr id="6149" name="Rectangle 6">
            <a:extLst>
              <a:ext uri="{FF2B5EF4-FFF2-40B4-BE49-F238E27FC236}">
                <a16:creationId xmlns:a16="http://schemas.microsoft.com/office/drawing/2014/main" id="{707E297B-3A36-4BD0-A0B6-E29BE62E27D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fr-FR" altLang="fr-FR" dirty="0"/>
              <a:t>La liste des paramètres formels ne doit pas être vide</a:t>
            </a:r>
          </a:p>
          <a:p>
            <a:endParaRPr lang="fr-FR" altLang="fr-FR" dirty="0"/>
          </a:p>
          <a:p>
            <a:r>
              <a:rPr lang="fr-FR" altLang="fr-FR" dirty="0"/>
              <a:t>La liste des paramètres formels peut contenir des déclarations de paramètres classiques (par exemple </a:t>
            </a: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char* </a:t>
            </a:r>
            <a:r>
              <a:rPr lang="fr-FR" alt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altLang="fr-FR" dirty="0"/>
              <a:t>...)</a:t>
            </a:r>
          </a:p>
          <a:p>
            <a:endParaRPr lang="fr-FR" altLang="fr-FR" dirty="0"/>
          </a:p>
          <a:p>
            <a:r>
              <a:rPr lang="fr-FR" altLang="fr-FR" dirty="0"/>
              <a:t>Cette caractéristique est souvent utilisée pour définir des valeurs numériques pour la classe générique (dimension de tableaux par exemple)</a:t>
            </a:r>
          </a:p>
        </p:txBody>
      </p:sp>
      <p:sp>
        <p:nvSpPr>
          <p:cNvPr id="6150" name="Rectangle 7">
            <a:extLst>
              <a:ext uri="{FF2B5EF4-FFF2-40B4-BE49-F238E27FC236}">
                <a16:creationId xmlns:a16="http://schemas.microsoft.com/office/drawing/2014/main" id="{6D234D6D-F2FD-436D-8768-9071433CC23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fr-FR" altLang="fr-FR" dirty="0"/>
              <a:t>Chaque paramètre formel comprend le mot réservé 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fr-FR" altLang="fr-FR" dirty="0"/>
              <a:t> suivi d’un identificateur</a:t>
            </a:r>
          </a:p>
          <a:p>
            <a:endParaRPr lang="fr-FR" altLang="fr-FR" dirty="0"/>
          </a:p>
          <a:p>
            <a:r>
              <a:rPr lang="fr-FR" altLang="fr-FR" dirty="0"/>
              <a:t>Le mot réservé </a:t>
            </a:r>
            <a:r>
              <a:rPr lang="fr-FR" alt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fr-FR" altLang="fr-FR" dirty="0"/>
              <a:t> indique que le type paramètre peut être un type construit ou défini par l’utilisateur</a:t>
            </a:r>
          </a:p>
          <a:p>
            <a:endParaRPr lang="fr-FR" altLang="fr-FR" dirty="0"/>
          </a:p>
          <a:p>
            <a:r>
              <a:rPr lang="fr-FR" altLang="fr-FR" dirty="0"/>
              <a:t>Une fois déclarés, les paramètres formels peuvent être utilisés dans toute la classe, partout où un type effectif est autorisé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490B3AEC-C580-472E-800D-4DDD5F0A2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FE647D-9220-4E67-8617-32402764D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317D2C-5D59-4FAD-B710-592B9DDF9916}" type="slidenum">
              <a:rPr lang="fr-FR" altLang="fr-FR" smtClean="0"/>
              <a:pPr/>
              <a:t>4</a:t>
            </a:fld>
            <a:endParaRPr lang="fr-FR" altLang="fr-FR"/>
          </a:p>
        </p:txBody>
      </p:sp>
    </p:spTree>
  </p:cSld>
  <p:clrMapOvr>
    <a:masterClrMapping/>
  </p:clrMapOvr>
  <p:transition advTm="549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FC4DB694-883F-4DB6-8A5B-3CAD389B7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Classes génériques : exemple 1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87BC4194-123A-4FA5-AAB4-946C559CA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class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Type	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m_A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		// donnée membre de type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Type	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m_pA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	// tableau de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éléments de type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		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(Type);	//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constructucteur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à un paramètre de type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~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	// destructeur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Méthode (Type);	// fonction membre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&lt;Type,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&gt;::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(Type A)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...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FR" alt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50B8CE-2955-4CEB-8361-2710A0A82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837E3E6-F38D-4097-B8D9-36E854AD7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5</a:t>
            </a:fld>
            <a:endParaRPr lang="fr-FR" altLang="fr-FR" dirty="0"/>
          </a:p>
        </p:txBody>
      </p:sp>
    </p:spTree>
  </p:cSld>
  <p:clrMapOvr>
    <a:masterClrMapping/>
  </p:clrMapOvr>
  <p:transition advTm="12460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1ADE5859-5A9B-40F1-8ED7-01A7E8FEA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exemple 2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BDD571CF-7A6B-4B99-B79A-106C60E4C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Type&gt; class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CComplex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	Type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m_Re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		// partie réelle et imaginaire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CComplex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(Type Re = Type(0); Type Im = Type(0))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: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m_Re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(Re),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(Im) {}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Amplitude ();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Type&gt; double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CComplex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&lt;Type&gt;::Amplitude ()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m_Re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m_Re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m_Im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E25970-D8A3-4112-8619-D404A17E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500CA63-7378-47EB-A8DC-DB52F9D7F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6</a:t>
            </a:fld>
            <a:endParaRPr lang="fr-FR" altLang="fr-FR" dirty="0"/>
          </a:p>
        </p:txBody>
      </p:sp>
    </p:spTree>
  </p:cSld>
  <p:clrMapOvr>
    <a:masterClrMapping/>
  </p:clrMapOvr>
  <p:transition advTm="1816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F541973-8BBA-4B65-8595-1C75CB7A8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instanciation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DC095471-AA6E-4712-BE06-4E902B4F49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 dirty="0"/>
              <a:t>Le mécanisme mis en œuvre est différent de celui des fonctions génériques [pourquoi ?]</a:t>
            </a:r>
          </a:p>
          <a:p>
            <a:endParaRPr lang="fr-FR" altLang="fr-FR" dirty="0"/>
          </a:p>
          <a:p>
            <a:r>
              <a:rPr lang="fr-FR" altLang="fr-FR" dirty="0"/>
              <a:t>Une classe générique est instanciée lors de la déclaration d’un objet, en spécifiant une liste (délimitée par &lt; et &gt;) de types et/ou de valeurs (paramètres effectifs), à la suite de l’identificateur de la classe</a:t>
            </a:r>
          </a:p>
          <a:p>
            <a:endParaRPr lang="fr-FR" altLang="fr-FR" dirty="0"/>
          </a:p>
          <a:p>
            <a:r>
              <a:rPr lang="fr-FR" altLang="fr-FR" dirty="0"/>
              <a:t>Les objets d’une classe générique sont déclarés et utilisés comme les objets d’une classe ordinaire</a:t>
            </a:r>
          </a:p>
          <a:p>
            <a:endParaRPr lang="fr-FR" altLang="fr-FR" dirty="0"/>
          </a:p>
          <a:p>
            <a:r>
              <a:rPr lang="fr-FR" altLang="fr-FR" dirty="0"/>
              <a:t>Exemples :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&lt;double, 3&gt;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CComplex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cplx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A5F3B8-0F6D-4AD6-8C2A-4608E674E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61B2A1-10C9-432B-8F7A-6FB4090BA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7</a:t>
            </a:fld>
            <a:endParaRPr lang="fr-FR" altLang="fr-FR" dirty="0"/>
          </a:p>
        </p:txBody>
      </p:sp>
    </p:spTree>
  </p:cSld>
  <p:clrMapOvr>
    <a:masterClrMapping/>
  </p:clrMapOvr>
  <p:transition advTm="254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E160CB5E-7074-41A4-846F-19B6F1205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instanciation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4BF60BC1-3C8A-46C3-B91C-DDD2374EDE7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fr-FR" altLang="fr-FR" dirty="0"/>
              <a:t>Une classe générique peut être utilisée partout où est utilisée une classe ordinaire</a:t>
            </a:r>
          </a:p>
          <a:p>
            <a:endParaRPr lang="fr-FR" altLang="fr-FR" dirty="0"/>
          </a:p>
          <a:p>
            <a:r>
              <a:rPr lang="fr-FR" altLang="fr-FR" dirty="0"/>
              <a:t>Les paramètres effectifs (types ou expressions) doivent correspondre aux paramètres de la liste</a:t>
            </a:r>
          </a:p>
          <a:p>
            <a:endParaRPr lang="fr-FR" altLang="fr-FR" dirty="0"/>
          </a:p>
          <a:p>
            <a:r>
              <a:rPr lang="fr-FR" altLang="fr-FR" dirty="0"/>
              <a:t>Les paramètres expressions doivent obligatoirement être des expressions constantes du même type que celui de la liste</a:t>
            </a:r>
          </a:p>
          <a:p>
            <a:endParaRPr lang="fr-FR" altLang="fr-FR" dirty="0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93529D15-558F-4900-848C-78F0A95D957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fr-FR" altLang="fr-FR" dirty="0"/>
              <a:t>Un paramètre effectif peut être une classe générique</a:t>
            </a:r>
          </a:p>
          <a:p>
            <a:endParaRPr lang="fr-FR" altLang="fr-FR" dirty="0"/>
          </a:p>
          <a:p>
            <a:r>
              <a:rPr lang="fr-FR" altLang="fr-FR" dirty="0"/>
              <a:t>Une classe générique peut comporter des membres (données ou méthodes) statiques ; dans ce cas, chaque instance différente de la classe dispose de son propre jeu de membres statiques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CB19D4FB-7934-4303-AA18-95C5A40F1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8B6E1C-BA38-4D35-8210-EE2FBA4FE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317D2C-5D59-4FAD-B710-592B9DDF9916}" type="slidenum">
              <a:rPr lang="fr-FR" altLang="fr-FR" smtClean="0"/>
              <a:pPr/>
              <a:t>8</a:t>
            </a:fld>
            <a:endParaRPr lang="fr-FR" altLang="fr-FR"/>
          </a:p>
        </p:txBody>
      </p:sp>
    </p:spTree>
  </p:cSld>
  <p:clrMapOvr>
    <a:masterClrMapping/>
  </p:clrMapOvr>
  <p:transition advTm="371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>
            <a:extLst>
              <a:ext uri="{FF2B5EF4-FFF2-40B4-BE49-F238E27FC236}">
                <a16:creationId xmlns:a16="http://schemas.microsoft.com/office/drawing/2014/main" id="{15E72084-FAC0-48D2-973E-FC7883699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compilation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40AE9B36-205B-423F-AE8F-31BB4011A2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 dirty="0"/>
              <a:t>Les classes génériques sont compilées dès qu’un objet de la classe est déclaré (elles ne sont PAS compilées tant qu’il n’existe pas d’objet de cette classe)</a:t>
            </a:r>
          </a:p>
          <a:p>
            <a:endParaRPr lang="fr-FR" altLang="fr-FR" dirty="0"/>
          </a:p>
          <a:p>
            <a:r>
              <a:rPr lang="fr-FR" altLang="fr-FR" dirty="0"/>
              <a:t>Le compilateur génère le code correspondant aux types et expressions passées en paramètre lors de la déclaration de l’objet</a:t>
            </a:r>
          </a:p>
          <a:p>
            <a:endParaRPr lang="fr-FR" altLang="fr-FR" dirty="0"/>
          </a:p>
          <a:p>
            <a:r>
              <a:rPr lang="fr-FR" altLang="fr-FR" dirty="0"/>
              <a:t>Les méthodes des classes génériques sont compilées lorsqu’elles sont utilisées</a:t>
            </a:r>
          </a:p>
          <a:p>
            <a:endParaRPr lang="fr-FR" altLang="fr-FR" dirty="0"/>
          </a:p>
          <a:p>
            <a:r>
              <a:rPr lang="fr-FR" altLang="fr-FR" dirty="0"/>
              <a:t>Conséquence : </a:t>
            </a:r>
            <a:r>
              <a:rPr lang="fr-FR" altLang="fr-FR" b="1" i="1" u="sng" dirty="0"/>
              <a:t>le compilateur n’émet donc pas d’erreur tant que cette classe n’est pas instanciée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339A85-F445-44E9-A95E-CDDD0D9FF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D4B57A5-D6D7-466E-9E31-1A882A445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9</a:t>
            </a:fld>
            <a:endParaRPr lang="fr-FR" altLang="fr-FR" dirty="0"/>
          </a:p>
        </p:txBody>
      </p:sp>
    </p:spTree>
  </p:cSld>
  <p:clrMapOvr>
    <a:masterClrMapping/>
  </p:clrMapOvr>
  <p:transition advTm="1149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8267B7D6-A290-4EA7-9A77-6C64FF395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Classes génériques : compilation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F2DE312-0A77-41F8-8F20-DC779833FC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7829" y="1555200"/>
            <a:ext cx="10972800" cy="4173796"/>
          </a:xfrm>
        </p:spPr>
        <p:txBody>
          <a:bodyPr/>
          <a:lstStyle/>
          <a:p>
            <a:r>
              <a:rPr lang="fr-FR" altLang="fr-FR" dirty="0"/>
              <a:t>Le compilateur impose une convention d’appel explicite stricte pour assurer la génération de classes appropriées</a:t>
            </a:r>
          </a:p>
          <a:p>
            <a:pPr marL="216998" lvl="2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NRange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class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16998" lvl="2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… };</a:t>
            </a:r>
          </a:p>
          <a:p>
            <a:pPr marL="216998" lvl="2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&lt;double, 20&gt; obj1;		// valide</a:t>
            </a:r>
          </a:p>
          <a:p>
            <a:pPr marL="216998" lvl="2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&lt;double&gt; obj2;							// erreur</a:t>
            </a:r>
          </a:p>
          <a:p>
            <a:pPr marL="216998" lvl="2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obj3;																	// erreur</a:t>
            </a:r>
          </a:p>
          <a:p>
            <a:pPr marL="216998" lvl="2" indent="0">
              <a:buNone/>
            </a:pP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altLang="fr-FR" dirty="0"/>
              <a:t>Certains compilateurs acceptent l’initialisation par défaut des types et des expressions dans la liste des paramètres formels</a:t>
            </a:r>
          </a:p>
          <a:p>
            <a:pPr marL="216998" lvl="2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Type=double,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nRange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=16&gt; class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16998" lvl="2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… };</a:t>
            </a:r>
          </a:p>
          <a:p>
            <a:pPr marL="216998" lvl="2" indent="0">
              <a:buNone/>
            </a:pP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obj4;		// valide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3026C2-2EF8-4000-8422-EA1F607CA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E5B18D9-2A6A-4014-9935-C0D198BB4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10</a:t>
            </a:fld>
            <a:endParaRPr lang="fr-FR" altLang="fr-FR" dirty="0"/>
          </a:p>
        </p:txBody>
      </p:sp>
    </p:spTree>
  </p:cSld>
  <p:clrMapOvr>
    <a:masterClrMapping/>
  </p:clrMapOvr>
  <p:transition advTm="543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97A267EF-3E52-404C-A27B-70C9430F5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spécialisation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95F4A5D-F62D-40DF-91B7-AEBBFB6D4E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 dirty="0"/>
              <a:t>Une classe générique ne peut pas être redéfinie (contrairement aux fonctions génériques) car deux classes de même identificateur ne peuvent coexister</a:t>
            </a:r>
          </a:p>
          <a:p>
            <a:endParaRPr lang="fr-FR" altLang="fr-FR" dirty="0"/>
          </a:p>
          <a:p>
            <a:r>
              <a:rPr lang="fr-FR" altLang="fr-FR" dirty="0"/>
              <a:t>Une classe générique peut être spécialisée de deux manières : </a:t>
            </a:r>
          </a:p>
          <a:p>
            <a:pPr lvl="1"/>
            <a:r>
              <a:rPr lang="fr-FR" altLang="fr-FR" dirty="0"/>
              <a:t>soit en spécialisant une ou plusieurs méthodes</a:t>
            </a:r>
          </a:p>
          <a:p>
            <a:pPr lvl="1"/>
            <a:r>
              <a:rPr lang="fr-FR" altLang="fr-FR" dirty="0"/>
              <a:t>soit en spécialisant la classe</a:t>
            </a:r>
          </a:p>
          <a:p>
            <a:endParaRPr lang="fr-FR" altLang="fr-FR" dirty="0"/>
          </a:p>
          <a:p>
            <a:r>
              <a:rPr lang="fr-FR" altLang="fr-FR" dirty="0"/>
              <a:t>Exemple :	</a:t>
            </a:r>
          </a:p>
          <a:p>
            <a:endParaRPr lang="fr-FR" altLang="fr-FR" dirty="0"/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class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&lt;char, 10&gt;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{</a:t>
            </a: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    ...	// nouvelle définition de </a:t>
            </a:r>
            <a:r>
              <a:rPr lang="fr-FR" alt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CExemple</a:t>
            </a:r>
            <a:endParaRPr lang="fr-FR" alt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}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218D56E-3A3F-4CC2-A904-0B204B487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Classes génériques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C0D8F4-85FC-4E7B-9C27-71330620F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11</a:t>
            </a:fld>
            <a:endParaRPr lang="fr-FR" altLang="fr-FR" dirty="0"/>
          </a:p>
        </p:txBody>
      </p:sp>
    </p:spTree>
  </p:cSld>
  <p:clrMapOvr>
    <a:masterClrMapping/>
  </p:clrMapOvr>
  <p:transition advTm="4857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327193A9-C05F-453F-9CB9-88C5556C6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identité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72DAF0A2-032D-4650-8DA5-58C43F779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/>
              <a:t>En C++, on ne peut affecter entre eux que deux objets de même type ou d’une même hiérarchie (opérateur =, paramètres de fonctions)</a:t>
            </a:r>
          </a:p>
          <a:p>
            <a:endParaRPr lang="fr-FR" altLang="fr-FR"/>
          </a:p>
          <a:p>
            <a:r>
              <a:rPr lang="fr-FR" altLang="fr-FR"/>
              <a:t>Dans le cas d’objets de type classe générique, il y a identité de type lorsque :</a:t>
            </a:r>
          </a:p>
          <a:p>
            <a:pPr lvl="1"/>
            <a:r>
              <a:rPr lang="fr-FR" altLang="fr-FR"/>
              <a:t>les paramètres de types sont identiques</a:t>
            </a:r>
          </a:p>
          <a:p>
            <a:pPr lvl="1"/>
            <a:r>
              <a:rPr lang="fr-FR" altLang="fr-FR"/>
              <a:t>les paramètres expressions ont même valeur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FA98E4C-5171-40B8-8A0C-C81E54528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0CE02A-E35F-4C5B-8296-76E91D8FC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12</a:t>
            </a:fld>
            <a:endParaRPr lang="fr-FR" altLang="fr-FR" dirty="0"/>
          </a:p>
        </p:txBody>
      </p:sp>
    </p:spTree>
  </p:cSld>
  <p:clrMapOvr>
    <a:masterClrMapping/>
  </p:clrMapOvr>
  <p:transition advTm="312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D68C2CB2-AD7F-401C-BDE8-C46F69D8B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héritage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5D48668-F5CC-40B3-9B47-7BEB853283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 dirty="0"/>
              <a:t>Il existe </a:t>
            </a:r>
            <a:r>
              <a:rPr lang="fr-FR" altLang="fr-FR" b="1" u="sng" dirty="0"/>
              <a:t>trois</a:t>
            </a:r>
            <a:r>
              <a:rPr lang="fr-FR" altLang="fr-FR" dirty="0"/>
              <a:t> manières de combiner des classes génériques dans une hiérarchie de classes</a:t>
            </a:r>
          </a:p>
          <a:p>
            <a:endParaRPr lang="fr-FR" altLang="fr-FR" dirty="0"/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1.	Classe ordinaire dérivée d’une classe générique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</a:t>
            </a:r>
            <a:r>
              <a:rPr lang="fr-FR" altLang="fr-FR" dirty="0">
                <a:sym typeface="Symbol" panose="05050102010706020507" pitchFamily="18" charset="2"/>
              </a:rPr>
              <a:t> </a:t>
            </a:r>
            <a:r>
              <a:rPr lang="fr-FR" altLang="fr-FR" dirty="0"/>
              <a:t>on obtient </a:t>
            </a:r>
            <a:r>
              <a:rPr lang="fr-FR" altLang="fr-FR" b="1" u="sng" dirty="0"/>
              <a:t>une seule</a:t>
            </a:r>
            <a:r>
              <a:rPr lang="fr-FR" altLang="fr-FR" dirty="0"/>
              <a:t> classe dérivée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Exemple :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si CA est une classe générique définie par :</a:t>
            </a:r>
          </a:p>
          <a:p>
            <a:pPr algn="ctr">
              <a:buFont typeface="Monotype Sorts" pitchFamily="2" charset="2"/>
              <a:buNone/>
            </a:pPr>
            <a:r>
              <a:rPr lang="fr-FR" altLang="fr-FR" sz="2000" dirty="0"/>
              <a:t>	</a:t>
            </a:r>
            <a:r>
              <a:rPr lang="en-GB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 &lt;class Type&gt; CA</a:t>
            </a:r>
            <a:endParaRPr lang="fr-FR" alt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la classe :</a:t>
            </a:r>
          </a:p>
          <a:p>
            <a:pPr algn="ctr">
              <a:buFont typeface="Monotype Sorts" pitchFamily="2" charset="2"/>
              <a:buNone/>
            </a:pPr>
            <a:r>
              <a:rPr lang="fr-FR" altLang="fr-FR" dirty="0"/>
              <a:t>	</a:t>
            </a:r>
            <a:r>
              <a:rPr lang="fr-FR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CB : public CA &lt;</a:t>
            </a:r>
            <a:r>
              <a:rPr lang="fr-FR" alt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dérive de la classe </a:t>
            </a:r>
            <a:r>
              <a:rPr lang="fr-FR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 &lt;</a:t>
            </a:r>
            <a:r>
              <a:rPr lang="fr-FR" alt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FR" altLang="fr-FR" dirty="0"/>
              <a:t> et est </a:t>
            </a:r>
            <a:r>
              <a:rPr lang="fr-FR" altLang="fr-FR" b="1" u="sng" dirty="0"/>
              <a:t>unique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2727300-B2BD-4B8F-AE00-E4C6B7786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AD5FC83-C50B-4335-A261-953A5AA46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13</a:t>
            </a:fld>
            <a:endParaRPr lang="fr-FR" altLang="fr-FR" dirty="0"/>
          </a:p>
        </p:txBody>
      </p:sp>
    </p:spTree>
  </p:cSld>
  <p:clrMapOvr>
    <a:masterClrMapping/>
  </p:clrMapOvr>
  <p:transition advTm="251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>
            <a:extLst>
              <a:ext uri="{FF2B5EF4-FFF2-40B4-BE49-F238E27FC236}">
                <a16:creationId xmlns:a16="http://schemas.microsoft.com/office/drawing/2014/main" id="{72E6D530-382B-427F-836C-6467AAF6E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héritage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7A56CB5B-E9A3-43A0-B371-EAB4927B74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fr-FR" altLang="fr-FR" dirty="0"/>
              <a:t>2.	Classe générique dérivée d’une classe ordinaire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</a:t>
            </a:r>
            <a:r>
              <a:rPr lang="fr-FR" altLang="fr-FR" dirty="0">
                <a:sym typeface="Symbol" panose="05050102010706020507" pitchFamily="18" charset="2"/>
              </a:rPr>
              <a:t> </a:t>
            </a:r>
            <a:r>
              <a:rPr lang="fr-FR" altLang="fr-FR" dirty="0"/>
              <a:t>on obtient </a:t>
            </a:r>
            <a:r>
              <a:rPr lang="fr-FR" altLang="fr-FR" b="1" u="sng" dirty="0"/>
              <a:t>une famille</a:t>
            </a:r>
            <a:r>
              <a:rPr lang="fr-FR" altLang="fr-FR" dirty="0"/>
              <a:t> de classes génériques</a:t>
            </a:r>
          </a:p>
          <a:p>
            <a:pPr>
              <a:buFont typeface="Monotype Sorts" pitchFamily="2" charset="2"/>
              <a:buNone/>
            </a:pPr>
            <a:endParaRPr lang="fr-FR" altLang="fr-FR" dirty="0"/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Exemple : </a:t>
            </a: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CA étant une classe ordinaire, la classe</a:t>
            </a:r>
          </a:p>
          <a:p>
            <a:pPr algn="ctr">
              <a:buFont typeface="Monotype Sorts" pitchFamily="2" charset="2"/>
              <a:buNone/>
            </a:pPr>
            <a:r>
              <a:rPr lang="fr-FR" altLang="fr-FR" dirty="0"/>
              <a:t>	</a:t>
            </a:r>
            <a:r>
              <a:rPr lang="en-GB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 &lt;class Type&gt; class CB : public CA</a:t>
            </a:r>
            <a:endParaRPr lang="fr-FR" alt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fr-FR" altLang="fr-FR" dirty="0"/>
              <a:t>	définit </a:t>
            </a:r>
            <a:r>
              <a:rPr lang="fr-FR" altLang="fr-FR" b="1" u="sng" dirty="0"/>
              <a:t>une famille</a:t>
            </a:r>
            <a:r>
              <a:rPr lang="fr-FR" altLang="fr-FR" dirty="0"/>
              <a:t> de classes de paramètre de type </a:t>
            </a:r>
            <a:r>
              <a:rPr lang="fr-FR" alt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fr-FR" alt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C913E54-E46B-407B-8AB5-6E0F3BB53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Classes génériques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6A8AEBD-9E82-4B79-9E28-00EA52D07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14</a:t>
            </a:fld>
            <a:endParaRPr lang="fr-FR" altLang="fr-FR" dirty="0"/>
          </a:p>
        </p:txBody>
      </p:sp>
    </p:spTree>
  </p:cSld>
  <p:clrMapOvr>
    <a:masterClrMapping/>
  </p:clrMapOvr>
  <p:transition advTm="334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6A838883-0EBC-4DA1-BF20-F8E84F694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Classes génériques : héritage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FC73556C-860D-4DCE-9C1F-98C7E23BA0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fr-FR" dirty="0"/>
              <a:t>3.	Classe générique dérivée d’une classe générique</a:t>
            </a:r>
          </a:p>
          <a:p>
            <a:pPr marL="0" indent="0">
              <a:buNone/>
            </a:pPr>
            <a:r>
              <a:rPr lang="fr-FR" altLang="fr-FR" dirty="0"/>
              <a:t>		 </a:t>
            </a:r>
            <a:r>
              <a:rPr lang="fr-FR" altLang="fr-FR" dirty="0">
                <a:sym typeface="Symbol" panose="05050102010706020507" pitchFamily="18" charset="2"/>
              </a:rPr>
              <a:t> </a:t>
            </a:r>
            <a:r>
              <a:rPr lang="fr-FR" altLang="fr-FR" dirty="0"/>
              <a:t>on obtient une ou plusieurs familles de classes</a:t>
            </a:r>
          </a:p>
          <a:p>
            <a:pPr marL="0" indent="0">
              <a:buNone/>
            </a:pPr>
            <a:r>
              <a:rPr lang="fr-FR" altLang="fr-FR" dirty="0"/>
              <a:t>Exemple :</a:t>
            </a:r>
          </a:p>
          <a:p>
            <a:pPr marL="0" indent="0">
              <a:buNone/>
            </a:pPr>
            <a:r>
              <a:rPr lang="fr-FR" altLang="fr-FR" dirty="0"/>
              <a:t>	si CA est une classe générique définie par</a:t>
            </a:r>
          </a:p>
          <a:p>
            <a:pPr marL="0" indent="0" algn="ctr">
              <a:buNone/>
            </a:pPr>
            <a:r>
              <a:rPr lang="fr-FR" altLang="fr-FR" dirty="0"/>
              <a:t>	</a:t>
            </a:r>
            <a:r>
              <a:rPr lang="en-GB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 &lt;class Type&gt; CA</a:t>
            </a:r>
            <a:endParaRPr lang="fr-FR" alt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altLang="fr-FR" dirty="0"/>
              <a:t>  la classe</a:t>
            </a:r>
          </a:p>
          <a:p>
            <a:pPr marL="0" indent="0" algn="ctr">
              <a:buNone/>
            </a:pPr>
            <a:r>
              <a:rPr lang="fr-FR" alt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fr-FR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&lt;class Type&gt; class CB : public CA &lt;Type&gt;</a:t>
            </a:r>
          </a:p>
          <a:p>
            <a:pPr marL="87313" indent="0">
              <a:buNone/>
            </a:pPr>
            <a:r>
              <a:rPr lang="fr-FR" altLang="fr-FR" dirty="0"/>
              <a:t>engendre une famille de classes dérivées dont le nombre est identique au nombre de classes de base instanciables</a:t>
            </a:r>
          </a:p>
          <a:p>
            <a:pPr marL="87313" indent="0">
              <a:buNone/>
            </a:pPr>
            <a:r>
              <a:rPr lang="fr-FR" altLang="fr-FR" dirty="0"/>
              <a:t>Par contre</a:t>
            </a:r>
          </a:p>
          <a:p>
            <a:pPr marL="0" indent="0" algn="ctr">
              <a:buNone/>
            </a:pPr>
            <a:r>
              <a:rPr lang="en-GB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 &lt;class Type, class U&gt; class CB : public CA &lt;Type&gt;</a:t>
            </a:r>
            <a:endParaRPr lang="fr-FR" alt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7313" indent="0">
              <a:buNone/>
            </a:pPr>
            <a:r>
              <a:rPr lang="fr-FR" altLang="fr-FR" dirty="0"/>
              <a:t>engendre plusieurs familles de classes dérivées, pour chaque classe de base dépendant du paramètre de type </a:t>
            </a:r>
            <a:r>
              <a:rPr lang="fr-FR" alt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094C4A2-D644-4D42-9911-B71A59FA4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Classes génériques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817C148-5359-4A50-989E-0FFE02149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F79594-089A-43BC-A72C-31F6634C2757}" type="slidenum">
              <a:rPr lang="fr-FR" altLang="fr-FR" smtClean="0"/>
              <a:pPr/>
              <a:t>15</a:t>
            </a:fld>
            <a:endParaRPr lang="fr-FR" altLang="fr-FR" dirty="0"/>
          </a:p>
        </p:txBody>
      </p:sp>
    </p:spTree>
  </p:cSld>
  <p:clrMapOvr>
    <a:masterClrMapping/>
  </p:clrMapOvr>
  <p:transition advTm="385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6">
            <a:extLst>
              <a:ext uri="{FF2B5EF4-FFF2-40B4-BE49-F238E27FC236}">
                <a16:creationId xmlns:a16="http://schemas.microsoft.com/office/drawing/2014/main" id="{B682440F-4D19-43DB-B550-2B8D08163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Généricité : mots-clefs</a:t>
            </a:r>
          </a:p>
        </p:txBody>
      </p:sp>
      <p:sp>
        <p:nvSpPr>
          <p:cNvPr id="18437" name="Rectangle 7">
            <a:extLst>
              <a:ext uri="{FF2B5EF4-FFF2-40B4-BE49-F238E27FC236}">
                <a16:creationId xmlns:a16="http://schemas.microsoft.com/office/drawing/2014/main" id="{AFEB110D-8642-4B1E-85C4-D370694B12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fr-FR" altLang="fr-FR" sz="2400"/>
              <a:t>Classe générique</a:t>
            </a:r>
          </a:p>
          <a:p>
            <a:r>
              <a:rPr lang="fr-FR" altLang="fr-FR" sz="2400"/>
              <a:t>Fonction générique</a:t>
            </a:r>
          </a:p>
          <a:p>
            <a:r>
              <a:rPr lang="fr-FR" altLang="fr-FR" sz="2400"/>
              <a:t>Généricité</a:t>
            </a:r>
          </a:p>
          <a:p>
            <a:r>
              <a:rPr lang="fr-FR" altLang="fr-FR" sz="2400"/>
              <a:t>Générique</a:t>
            </a:r>
          </a:p>
          <a:p>
            <a:r>
              <a:rPr lang="fr-FR" altLang="fr-FR" sz="2400"/>
              <a:t>Instanciation de classe</a:t>
            </a:r>
          </a:p>
          <a:p>
            <a:r>
              <a:rPr lang="fr-FR" altLang="fr-FR" sz="2400"/>
              <a:t>Instanciation de fonction</a:t>
            </a:r>
          </a:p>
        </p:txBody>
      </p:sp>
      <p:sp>
        <p:nvSpPr>
          <p:cNvPr id="18438" name="Rectangle 8">
            <a:extLst>
              <a:ext uri="{FF2B5EF4-FFF2-40B4-BE49-F238E27FC236}">
                <a16:creationId xmlns:a16="http://schemas.microsoft.com/office/drawing/2014/main" id="{922FF7DC-59F4-4679-9650-35AFF8E74DA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fr-FR" altLang="fr-FR" sz="2400"/>
              <a:t>Paramètre de type</a:t>
            </a:r>
          </a:p>
          <a:p>
            <a:r>
              <a:rPr lang="fr-FR" altLang="fr-FR" sz="2400"/>
              <a:t>Paramètre effectif</a:t>
            </a:r>
          </a:p>
          <a:p>
            <a:r>
              <a:rPr lang="fr-FR" altLang="fr-FR" sz="2400"/>
              <a:t>Paramètre expression</a:t>
            </a:r>
          </a:p>
          <a:p>
            <a:r>
              <a:rPr lang="fr-FR" altLang="fr-FR" sz="2400"/>
              <a:t>Paramètre formel</a:t>
            </a:r>
          </a:p>
          <a:p>
            <a:r>
              <a:rPr lang="fr-FR" altLang="fr-FR" sz="2400"/>
              <a:t>Template</a:t>
            </a:r>
          </a:p>
          <a:p>
            <a:r>
              <a:rPr lang="fr-FR" altLang="fr-FR" sz="2400"/>
              <a:t>Définition explicite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87A734B-5F28-4E5E-99A5-EDA62FFFA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Classes génériques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60DFC9-6A5C-4BB1-9B70-7F7B51F55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317D2C-5D59-4FAD-B710-592B9DDF9916}" type="slidenum">
              <a:rPr lang="fr-FR" altLang="fr-FR" smtClean="0"/>
              <a:pPr/>
              <a:t>16</a:t>
            </a:fld>
            <a:endParaRPr lang="fr-FR" altLang="fr-FR"/>
          </a:p>
        </p:txBody>
      </p:sp>
    </p:spTree>
  </p:cSld>
  <p:clrMapOvr>
    <a:masterClrMapping/>
  </p:clrMapOvr>
  <p:transition advTm="6761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olytech 201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irection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rection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ytech 2020b.potx" id="{AE8647F1-2E1B-4340-B9E7-5A917231ED55}" vid="{37B3B461-1EAF-4749-AB48-B8E8EA29A7ED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Polytech 2020b</Template>
  <TotalTime>3322</TotalTime>
  <Words>1398</Words>
  <Application>Microsoft Office PowerPoint</Application>
  <PresentationFormat>Grand écran</PresentationFormat>
  <Paragraphs>199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Times New Roman</vt:lpstr>
      <vt:lpstr>Arial</vt:lpstr>
      <vt:lpstr>Calibri</vt:lpstr>
      <vt:lpstr>Monotype Sorts</vt:lpstr>
      <vt:lpstr>Wingdings</vt:lpstr>
      <vt:lpstr>Symbol</vt:lpstr>
      <vt:lpstr>Polytech 2013</vt:lpstr>
      <vt:lpstr>Programmation C++ Généricité - classes génériques</vt:lpstr>
      <vt:lpstr>Classes génériques</vt:lpstr>
      <vt:lpstr>Classes génériques : syntaxe</vt:lpstr>
      <vt:lpstr>Classes génériques : remarques</vt:lpstr>
      <vt:lpstr>Classes génériques : exemple 1</vt:lpstr>
      <vt:lpstr>Classes génériques : exemple 2</vt:lpstr>
      <vt:lpstr>Classes génériques : instanciation</vt:lpstr>
      <vt:lpstr>Classes génériques : instanciation</vt:lpstr>
      <vt:lpstr>Classes génériques : compilation</vt:lpstr>
      <vt:lpstr>Classes génériques : compilation</vt:lpstr>
      <vt:lpstr>Classes génériques : spécialisation</vt:lpstr>
      <vt:lpstr>Classes génériques : identité</vt:lpstr>
      <vt:lpstr>Classes génériques : héritage</vt:lpstr>
      <vt:lpstr>Classes génériques : héritage</vt:lpstr>
      <vt:lpstr>Classes génériques : héritage</vt:lpstr>
      <vt:lpstr>Généricité : mots-clefs</vt:lpstr>
    </vt:vector>
  </TitlesOfParts>
  <Company>Université d'Orléans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Méthodologie Objets : Introduction</dc:title>
  <dc:creator>Christophe LEGER</dc:creator>
  <cp:keywords>C++;Programmation objet;Généricité;Templates;Fonctions génériques</cp:keywords>
  <cp:lastModifiedBy>Christophe Léger</cp:lastModifiedBy>
  <cp:revision>246</cp:revision>
  <cp:lastPrinted>2022-01-14T08:47:49Z</cp:lastPrinted>
  <dcterms:created xsi:type="dcterms:W3CDTF">1999-01-15T06:01:26Z</dcterms:created>
  <dcterms:modified xsi:type="dcterms:W3CDTF">2022-01-14T08:52:25Z</dcterms:modified>
</cp:coreProperties>
</file>